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1" r:id="rId9"/>
    <p:sldId id="273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60" d="100"/>
          <a:sy n="60" d="100"/>
        </p:scale>
        <p:origin x="1460" y="5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132990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_morph_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_morph_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_morph_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_morph_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_morph_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_morph_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_morph_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_morph_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246452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_morph_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_morph_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_morph_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_morph_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_morph_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_morph_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_morph_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_morph_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Content="1" isInverted="1"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939CCD-3BD6-AB24-E67D-453316B59B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5450D4-942F-BEC2-ECD9-89B057C876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755BF0-AD30-F14B-A193-9B1EA4AB4D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E19D85-684C-4CBD-B577-C318FA43788A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89F22F-0CEA-8EB8-7D2B-71E787AB5A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D4BB4B-2658-8487-7409-C589D7E5CF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253AB3-D509-42EB-90D3-C7F04E7E37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33303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mc:AlternateContent xmlns:mc="http://schemas.openxmlformats.org/markup-compatibility/2006" xmlns:p14="http://schemas.microsoft.com/office/powerpoint/2010/main">
    <mc:Choice Requires="p14">
      <p:transition spd="slow" p14:dur="1600">
        <p14:prism isContent="1" isInverted="1"/>
      </p:transition>
    </mc:Choice>
    <mc:Fallback xmlns="">
      <p:transition spd="slow">
        <p:fade/>
      </p:transition>
    </mc:Fallback>
  </mc:AlternateConten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microsoft.com/office/2007/relationships/hdphoto" Target="../media/hdphoto1.wdp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09728" cy="109728"/>
          </a:xfrm>
          <a:prstGeom prst="ellipse">
            <a:avLst/>
          </a:prstGeom>
          <a:solidFill>
            <a:srgbClr val="4A9EBA"/>
          </a:solidFill>
          <a:ln w="12700">
            <a:solidFill>
              <a:srgbClr val="4A9EB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365760"/>
            <a:ext cx="73152" cy="73152"/>
          </a:xfrm>
          <a:prstGeom prst="ellipse">
            <a:avLst/>
          </a:prstGeom>
          <a:solidFill>
            <a:srgbClr val="4A9EBA">
              <a:alpha val="60000"/>
            </a:srgbClr>
          </a:solidFill>
          <a:ln w="12700">
            <a:solidFill>
              <a:srgbClr val="4A9EBA">
                <a:alpha val="6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28016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 Drowsiness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548640" y="21031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kern="0" spc="100" dirty="0">
                <a:solidFill>
                  <a:srgbClr val="4A9E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System</a:t>
            </a:r>
            <a:endParaRPr lang="en-US" sz="5200" dirty="0"/>
          </a:p>
        </p:txBody>
      </p:sp>
      <p:sp>
        <p:nvSpPr>
          <p:cNvPr id="6" name="Shape 4"/>
          <p:cNvSpPr/>
          <p:nvPr/>
        </p:nvSpPr>
        <p:spPr>
          <a:xfrm>
            <a:off x="548640" y="3063240"/>
            <a:ext cx="2286000" cy="36576"/>
          </a:xfrm>
          <a:prstGeom prst="rect">
            <a:avLst/>
          </a:prstGeom>
          <a:solidFill>
            <a:srgbClr val="4A9EBA"/>
          </a:solidFill>
          <a:ln w="12700">
            <a:solidFill>
              <a:srgbClr val="4A9EB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544864" y="4196671"/>
            <a:ext cx="1450281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chemeClr val="bg1"/>
                </a:solidFill>
                <a:ea typeface="Tahoma" panose="020B0604030504040204" pitchFamily="34" charset="0"/>
                <a:cs typeface="Tahoma" panose="020B0604030504040204" pitchFamily="34" charset="0"/>
              </a:rPr>
              <a:t>PRESENTED BY:</a:t>
            </a:r>
            <a:br>
              <a:rPr lang="en-US" sz="1300" b="1" dirty="0">
                <a:solidFill>
                  <a:schemeClr val="bg1"/>
                </a:solidFill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300" b="1" dirty="0">
                <a:solidFill>
                  <a:schemeClr val="bg1"/>
                </a:solidFill>
                <a:ea typeface="Tahoma" panose="020B0604030504040204" pitchFamily="34" charset="0"/>
                <a:cs typeface="Tahoma" panose="020B0604030504040204" pitchFamily="34" charset="0"/>
              </a:rPr>
              <a:t>ISHA NABEEL</a:t>
            </a:r>
          </a:p>
          <a:p>
            <a:pPr marL="0" indent="0" algn="r">
              <a:buNone/>
            </a:pPr>
            <a:r>
              <a:rPr lang="en-US" sz="1300" b="1" dirty="0">
                <a:solidFill>
                  <a:schemeClr val="bg1"/>
                </a:solidFill>
                <a:ea typeface="Tahoma" panose="020B0604030504040204" pitchFamily="34" charset="0"/>
                <a:cs typeface="Tahoma" panose="020B0604030504040204" pitchFamily="34" charset="0"/>
              </a:rPr>
              <a:t>EISHAL WAQAS</a:t>
            </a:r>
          </a:p>
          <a:p>
            <a:pPr marL="0" indent="0" algn="r">
              <a:buNone/>
            </a:pPr>
            <a:r>
              <a:rPr lang="en-US" sz="1300" b="1" dirty="0">
                <a:solidFill>
                  <a:schemeClr val="bg1"/>
                </a:solidFill>
                <a:ea typeface="Tahoma" panose="020B0604030504040204" pitchFamily="34" charset="0"/>
                <a:cs typeface="Tahoma" panose="020B0604030504040204" pitchFamily="34" charset="0"/>
              </a:rPr>
              <a:t>AIMA ANJUM</a:t>
            </a:r>
          </a:p>
          <a:p>
            <a:pPr marL="0" indent="0" algn="r">
              <a:buNone/>
            </a:pPr>
            <a:endParaRPr lang="en-US" sz="1300" b="1" dirty="0">
              <a:solidFill>
                <a:schemeClr val="bg1"/>
              </a:solidFill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Content="1" isInverted="1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65176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0E8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57200" y="11430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4A9E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2011680"/>
            <a:ext cx="2651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Leading cause of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 fatalities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337560" y="1005840"/>
            <a:ext cx="265176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0E8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337560" y="11430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4A9E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20–30%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337560" y="2011680"/>
            <a:ext cx="2651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Accidents caused by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 drowsiness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17920" y="1005840"/>
            <a:ext cx="265176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0E8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217920" y="11430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6217920" y="2011680"/>
            <a:ext cx="2651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solutions: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expensive hardware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080760" y="11430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Cost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48640" y="3493008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A9E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234440" y="3493008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Real-time, camera-only, training-free deployment system for drowsiness detection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Content="1" isInverted="1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Overview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3977640" cy="3474720"/>
          </a:xfrm>
          <a:prstGeom prst="roundRect">
            <a:avLst>
              <a:gd name="adj" fmla="val 2632"/>
            </a:avLst>
          </a:prstGeom>
          <a:solidFill>
            <a:srgbClr val="EBF5FB"/>
          </a:solidFill>
          <a:ln w="19050">
            <a:solidFill>
              <a:srgbClr val="AED6F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97280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300" dirty="0">
                <a:solidFill>
                  <a:srgbClr val="4A9E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3977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 Baseline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2240280"/>
            <a:ext cx="36118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Eye + Mouth classifiers</a:t>
            </a:r>
            <a:endParaRPr lang="en-US" sz="1300" dirty="0"/>
          </a:p>
          <a:p>
            <a:pPr marL="0" indent="0" algn="ctr">
              <a:buNone/>
            </a:pP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Exposes fundamental limitations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frame-based detection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754880" y="960120"/>
            <a:ext cx="3977640" cy="3474720"/>
          </a:xfrm>
          <a:prstGeom prst="roundRect">
            <a:avLst>
              <a:gd name="adj" fmla="val 2632"/>
            </a:avLst>
          </a:prstGeom>
          <a:solidFill>
            <a:srgbClr val="E8F8F5"/>
          </a:solidFill>
          <a:ln w="19050">
            <a:solidFill>
              <a:srgbClr val="A2D9C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0" y="1097280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300" dirty="0">
                <a:solidFill>
                  <a:srgbClr val="4A9E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754880" y="1508760"/>
            <a:ext cx="3977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System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937760" y="2240280"/>
            <a:ext cx="36118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MediaPipe + EAR / MAR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PERCLOS Temporal Fusion</a:t>
            </a:r>
            <a:endParaRPr lang="en-US" sz="1300" dirty="0"/>
          </a:p>
          <a:p>
            <a:pPr marL="0" indent="0" algn="ctr">
              <a:buNone/>
            </a:pP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Production-ready pipeline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70832" y="2606040"/>
            <a:ext cx="402336" cy="36576"/>
          </a:xfrm>
          <a:prstGeom prst="rect">
            <a:avLst/>
          </a:prstGeom>
          <a:solidFill>
            <a:srgbClr val="8FA3B1"/>
          </a:solidFill>
          <a:ln w="12700">
            <a:solidFill>
              <a:srgbClr val="8FA3B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34256" y="2496312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Content="1" isInverted="1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Not Just CNN?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640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4A9E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88720" y="1051560"/>
            <a:ext cx="7406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Blink vs. Drowsy Closure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188720" y="1408176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blink (150–400 ms) looks identical to drowsy closure (2–4 s) in a single frame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2011680"/>
            <a:ext cx="8229600" cy="18288"/>
          </a:xfrm>
          <a:prstGeom prst="rect">
            <a:avLst/>
          </a:prstGeom>
          <a:solidFill>
            <a:srgbClr val="FFFFFF">
              <a:alpha val="15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240280"/>
            <a:ext cx="640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4A9E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188720" y="2286000"/>
            <a:ext cx="7406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Talking vs. Yawning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188720" y="2642616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Mouth open for speech and yawning are indistinguishable at the frame level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3246120"/>
            <a:ext cx="8229600" cy="18288"/>
          </a:xfrm>
          <a:prstGeom prst="rect">
            <a:avLst/>
          </a:prstGeom>
          <a:solidFill>
            <a:srgbClr val="FFFFFF">
              <a:alpha val="15000"/>
            </a:srgbClr>
          </a:solidFill>
          <a:ln w="12700">
            <a:solidFill>
              <a:srgbClr val="FFFFFF">
                <a:alpha val="15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474720"/>
            <a:ext cx="640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4A9E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1188720" y="3520440"/>
            <a:ext cx="7406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Temporal Context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188720" y="3877056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temporal context there is no drowsiness signal — just a frozen moment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7200" y="461772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4A9E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This motivated our temporal fusion system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Content="1" isInverted="1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97764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5E8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94360" y="1143000"/>
            <a:ext cx="3703320" cy="457200"/>
          </a:xfrm>
          <a:prstGeom prst="roundRect">
            <a:avLst>
              <a:gd name="adj" fmla="val 10000"/>
            </a:avLst>
          </a:prstGeom>
          <a:solidFill>
            <a:srgbClr val="4A9EBA">
              <a:alpha val="15000"/>
            </a:srgbClr>
          </a:solidFill>
          <a:ln w="12700">
            <a:solidFill>
              <a:srgbClr val="4A9EBA">
                <a:alpha val="25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170432"/>
            <a:ext cx="3703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4A9E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Eye CNN Training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691640"/>
            <a:ext cx="3794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MRL Eye Dataset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48640" y="2377440"/>
            <a:ext cx="3794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4A9E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18,000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548640" y="3063240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3456432"/>
            <a:ext cx="3794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Balanced — Open / Closed classes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754880" y="1005840"/>
            <a:ext cx="397764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5E8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892040" y="1143000"/>
            <a:ext cx="3703320" cy="457200"/>
          </a:xfrm>
          <a:prstGeom prst="roundRect">
            <a:avLst>
              <a:gd name="adj" fmla="val 10000"/>
            </a:avLst>
          </a:prstGeom>
          <a:solidFill>
            <a:srgbClr val="27AE60">
              <a:alpha val="15000"/>
            </a:srgbClr>
          </a:solidFill>
          <a:ln w="12700">
            <a:solidFill>
              <a:srgbClr val="27AE60">
                <a:alpha val="25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92040" y="1170432"/>
            <a:ext cx="3703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Mouth CNN Training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846320" y="1691640"/>
            <a:ext cx="3794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Yawn Dataset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846320" y="2377440"/>
            <a:ext cx="3794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5000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4846320" y="3063240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846320" y="3456432"/>
            <a:ext cx="3794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Balanced — Yawn / No Yawn classes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Content="1" isInverted="1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 Architecture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754880" cy="777240"/>
          </a:xfrm>
          <a:prstGeom prst="roundRect">
            <a:avLst>
              <a:gd name="adj" fmla="val 7059"/>
            </a:avLst>
          </a:prstGeom>
          <a:solidFill>
            <a:srgbClr val="E8F4F8"/>
          </a:solidFill>
          <a:ln w="12700">
            <a:solidFill>
              <a:srgbClr val="D5E8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94360" y="105156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94360" y="138988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64×64 grayscale patch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560320" y="175564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4A9E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011680"/>
            <a:ext cx="475488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25400">
            <a:solidFill>
              <a:srgbClr val="4A9EBA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5740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A9E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MobileNetV2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94360" y="239572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Pretrained ImageNet backbone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60320" y="27614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4A9E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017520"/>
            <a:ext cx="475488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5E8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06324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94360" y="340156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classification head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560320" y="37673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4A9E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4023360"/>
            <a:ext cx="4754880" cy="777240"/>
          </a:xfrm>
          <a:prstGeom prst="roundRect">
            <a:avLst>
              <a:gd name="adj" fmla="val 7059"/>
            </a:avLst>
          </a:prstGeom>
          <a:solidFill>
            <a:srgbClr val="E8F4F8"/>
          </a:solidFill>
          <a:ln w="12700">
            <a:solidFill>
              <a:srgbClr val="D5E8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94360" y="406908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94360" y="440740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Eye CNN: Open / Closed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Mouth CNN: Yawn / No Yawn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0" y="1005840"/>
            <a:ext cx="3200400" cy="3291840"/>
          </a:xfrm>
          <a:prstGeom prst="roundRect">
            <a:avLst>
              <a:gd name="adj" fmla="val 2857"/>
            </a:avLst>
          </a:prstGeom>
          <a:solidFill>
            <a:srgbClr val="0F1923"/>
          </a:solidFill>
          <a:ln w="12700">
            <a:solidFill>
              <a:srgbClr val="1A2B3C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623560" y="11430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4A9E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Specs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623560" y="1600200"/>
            <a:ext cx="29260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Backbone: MobileNetV2</a:t>
            </a:r>
            <a:endParaRPr lang="en-US" sz="12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Pretrained: ImageNet</a:t>
            </a:r>
            <a:endParaRPr lang="en-US" sz="12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Task: Binary classification</a:t>
            </a:r>
            <a:endParaRPr lang="en-US" sz="12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64×64 grayscale</a:t>
            </a:r>
            <a:endParaRPr lang="en-US" sz="12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Eye: Open / Closed</a:t>
            </a:r>
            <a:endParaRPr lang="en-US" sz="12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Mouth: Yawn / No Yawn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Content="1" isInverted="1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 Results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188720"/>
          <a:ext cx="7315200" cy="1700784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Eye CNN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4A9EB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92.2%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4A9EB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4A9EB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92.2%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4A9EB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92.2%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Mouth CNN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4A9EB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91.7%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4A9EB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92.4%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4A9EB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91.7%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4A9EB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914400" y="3474720"/>
            <a:ext cx="7315200" cy="822960"/>
          </a:xfrm>
          <a:prstGeom prst="roundRect">
            <a:avLst>
              <a:gd name="adj" fmla="val 6667"/>
            </a:avLst>
          </a:prstGeom>
          <a:solidFill>
            <a:srgbClr val="E8F4F8"/>
          </a:solidFill>
          <a:ln w="12700">
            <a:solidFill>
              <a:srgbClr val="4A9EBA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51560" y="3547872"/>
            <a:ext cx="70408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models achieve &gt;91% accuracy with balanced precision and recall across both classes — strong baselines that expose the frame-level limitation.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Content="1" isInverted="1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378F79D-3A22-C7F5-5D41-29C78A9C4D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251566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prism isContent="1" isInverted="1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7E2F7684-AA46-5EFF-EB44-7CA009C107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9069512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43962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hape 5"/>
          <p:cNvSpPr/>
          <p:nvPr/>
        </p:nvSpPr>
        <p:spPr>
          <a:xfrm>
            <a:off x="3246120" y="960120"/>
            <a:ext cx="2560320" cy="2743200"/>
          </a:xfrm>
          <a:prstGeom prst="roundRect">
            <a:avLst>
              <a:gd name="adj" fmla="val 3571"/>
            </a:avLst>
          </a:prstGeom>
          <a:solidFill>
            <a:srgbClr val="1A2B3C"/>
          </a:solidFill>
          <a:ln w="12700">
            <a:solidFill>
              <a:srgbClr val="2E4460"/>
            </a:solidFill>
            <a:prstDash val="solid"/>
          </a:ln>
        </p:spPr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4FCEC6B7-BDD6-84B8-42C1-58135511F80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88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226407" y="984703"/>
            <a:ext cx="2691185" cy="2691185"/>
          </a:xfrm>
          <a:prstGeom prst="rect">
            <a:avLst/>
          </a:prstGeom>
        </p:spPr>
      </p:pic>
      <p:sp>
        <p:nvSpPr>
          <p:cNvPr id="11" name="Shape 9"/>
          <p:cNvSpPr/>
          <p:nvPr/>
        </p:nvSpPr>
        <p:spPr>
          <a:xfrm>
            <a:off x="6080760" y="960120"/>
            <a:ext cx="2560320" cy="2743200"/>
          </a:xfrm>
          <a:prstGeom prst="roundRect">
            <a:avLst>
              <a:gd name="adj" fmla="val 3571"/>
            </a:avLst>
          </a:prstGeom>
          <a:solidFill>
            <a:srgbClr val="1A2B3C"/>
          </a:solidFill>
          <a:ln w="12700">
            <a:solidFill>
              <a:srgbClr val="2E4460"/>
            </a:solidFill>
            <a:prstDash val="solid"/>
          </a:ln>
        </p:spPr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B83589FA-C292-5B60-B2C9-1D1633519E2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80761" y="960120"/>
            <a:ext cx="2560320" cy="2807208"/>
          </a:xfrm>
          <a:prstGeom prst="rect">
            <a:avLst/>
          </a:prstGeom>
        </p:spPr>
      </p:pic>
      <p:sp>
        <p:nvSpPr>
          <p:cNvPr id="3" name="Shape 1"/>
          <p:cNvSpPr/>
          <p:nvPr/>
        </p:nvSpPr>
        <p:spPr>
          <a:xfrm>
            <a:off x="411480" y="960120"/>
            <a:ext cx="2560320" cy="2743200"/>
          </a:xfrm>
          <a:prstGeom prst="roundRect">
            <a:avLst>
              <a:gd name="adj" fmla="val 3571"/>
            </a:avLst>
          </a:prstGeom>
          <a:solidFill>
            <a:srgbClr val="1A2B3C"/>
          </a:solidFill>
          <a:ln w="12700">
            <a:solidFill>
              <a:srgbClr val="2E4460"/>
            </a:solidFill>
            <a:prstDash val="solid"/>
          </a:ln>
        </p:spPr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7F095BDA-AD8B-A7A4-B94B-2F9C1954C9A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1" y="960120"/>
            <a:ext cx="2758618" cy="2807207"/>
          </a:xfrm>
          <a:prstGeom prst="rect">
            <a:avLst/>
          </a:prstGeom>
          <a:effectLst>
            <a:softEdge rad="31750"/>
          </a:effectLst>
        </p:spPr>
      </p:pic>
      <p:sp>
        <p:nvSpPr>
          <p:cNvPr id="2" name="Text 0"/>
          <p:cNvSpPr/>
          <p:nvPr/>
        </p:nvSpPr>
        <p:spPr>
          <a:xfrm>
            <a:off x="548640" y="3200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GradCAM Visualization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11480" y="333756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Eye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11480" y="3584448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 on iris / lid boundary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246120" y="333756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Eye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246120" y="3584448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 on lid edge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080760" y="333756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Yawn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080760" y="3584448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Heat on mouth opening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48640" y="39776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correctly focuses on iris/lid boundary — confirming learned features are anatomically meaningful, not background artifacts.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Content="1" isInverted="1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System: How It Works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0690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5E8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97280" y="105156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A9E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MediaPipe Face Mesh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97280" y="1435608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468 landmarks detected per frame — no training required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286000"/>
            <a:ext cx="40690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5E8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097280" y="237744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A9E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 — Eye Aspect Ratio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97280" y="2761488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Computed per frame from 6 eye landmarks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611880"/>
            <a:ext cx="40690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5E8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1097280" y="370332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A9E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 — Mouth Aspect Ratio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97280" y="4087368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Computed from 4 mouth landmarks per frame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892040" y="960120"/>
            <a:ext cx="40690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5E8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532120" y="105156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A9E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PERCLOS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532120" y="1435608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Rolling 30-second window — fraction of frames where eye was closed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892040" y="2286000"/>
            <a:ext cx="40690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5E8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532120" y="237744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A9E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Yawn Detection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532120" y="2761488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 &gt; threshold sustained for 1.5 s = yawn event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Content="1" isInverted="1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Fusion Logic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8229600" cy="1143000"/>
          </a:xfrm>
          <a:prstGeom prst="roundRect">
            <a:avLst>
              <a:gd name="adj" fmla="val 6400"/>
            </a:avLst>
          </a:prstGeom>
          <a:solidFill>
            <a:srgbClr val="E9F7EF"/>
          </a:solidFill>
          <a:ln w="19050">
            <a:solidFill>
              <a:srgbClr val="A9DFB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960120"/>
            <a:ext cx="1371600" cy="1143000"/>
          </a:xfrm>
          <a:prstGeom prst="roundRect">
            <a:avLst>
              <a:gd name="adj" fmla="val 6400"/>
            </a:avLst>
          </a:prstGeom>
          <a:solidFill>
            <a:srgbClr val="27AE60">
              <a:alpha val="90000"/>
            </a:srgbClr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960120"/>
            <a:ext cx="1371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011680" y="1051560"/>
            <a:ext cx="6492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PERCLOS &lt; 0.35  ·  No yawning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011680" y="1508760"/>
            <a:ext cx="6492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 is awake and attentive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286000"/>
            <a:ext cx="8229600" cy="1143000"/>
          </a:xfrm>
          <a:prstGeom prst="roundRect">
            <a:avLst>
              <a:gd name="adj" fmla="val 6400"/>
            </a:avLst>
          </a:prstGeom>
          <a:solidFill>
            <a:srgbClr val="FEF9E7"/>
          </a:solidFill>
          <a:ln w="19050">
            <a:solidFill>
              <a:srgbClr val="F9E79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2286000"/>
            <a:ext cx="1371600" cy="1143000"/>
          </a:xfrm>
          <a:prstGeom prst="roundRect">
            <a:avLst>
              <a:gd name="adj" fmla="val 6400"/>
            </a:avLst>
          </a:prstGeom>
          <a:solidFill>
            <a:srgbClr val="E67E22">
              <a:alpha val="90000"/>
            </a:srgbClr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286000"/>
            <a:ext cx="1371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011680" y="2377440"/>
            <a:ext cx="6492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PERCLOS 0.35–0.60  OR  Yawn rate ≥ 2/min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011680" y="2834640"/>
            <a:ext cx="6492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signs of fatigue — audible chime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611880"/>
            <a:ext cx="8229600" cy="1143000"/>
          </a:xfrm>
          <a:prstGeom prst="roundRect">
            <a:avLst>
              <a:gd name="adj" fmla="val 6400"/>
            </a:avLst>
          </a:prstGeom>
          <a:solidFill>
            <a:srgbClr val="FDEDEC"/>
          </a:solidFill>
          <a:ln w="19050">
            <a:solidFill>
              <a:srgbClr val="F1948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3611880"/>
            <a:ext cx="1371600" cy="1143000"/>
          </a:xfrm>
          <a:prstGeom prst="roundRect">
            <a:avLst>
              <a:gd name="adj" fmla="val 6400"/>
            </a:avLst>
          </a:prstGeom>
          <a:solidFill>
            <a:srgbClr val="C0392B">
              <a:alpha val="90000"/>
            </a:srgbClr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611880"/>
            <a:ext cx="1371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011680" y="3703320"/>
            <a:ext cx="6492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PERCLOS &gt; 0.60  OR  Yawn rate ≥ 4/min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011680" y="4160520"/>
            <a:ext cx="6492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Severe drowsiness — strong alert triggered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Content="1" isInverted="1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4693E77B-F7FB-F498-C619-71F481BC99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2" y="0"/>
            <a:ext cx="9134788" cy="51435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Content="1" isInverted="1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Design?</a:t>
            </a:r>
            <a:endParaRPr lang="en-US" sz="2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05840" y="1005840"/>
          <a:ext cx="7132320" cy="356616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943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Aspect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 Only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6D7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 System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9EB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Temporal context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Training required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8FA3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Blink vs closure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Real-time speed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Slow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E2D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Generalisation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Better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Content="1" isInverted="1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02336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D5E8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97280" y="1088136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30-second Warm-up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94360" y="1554480"/>
            <a:ext cx="3749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PERCLOS window needs 30 seconds to accumulate enough frames before it becomes meaningful.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800600" y="960120"/>
            <a:ext cx="402336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D5E8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440680" y="1088136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 Threshold Sensitivity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37760" y="1554480"/>
            <a:ext cx="3749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Eye aspect ratio threshold may vary per person — glasses, eye shape, and lighting affect baseline.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880360"/>
            <a:ext cx="402336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D5E8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1097280" y="3008376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Benchmark Evaluation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94360" y="3474720"/>
            <a:ext cx="3749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has not yet been evaluated on a standard benchmark dataset (e.g., NTHU).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800600" y="2880360"/>
            <a:ext cx="402336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D5E8EF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440680" y="3008376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Frontal Camera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937760" y="3474720"/>
            <a:ext cx="3749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Assumes a frontal-facing camera setup; extreme head angles or profile views are not supported.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Content="1" isInverted="1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502920" cy="502920"/>
          </a:xfrm>
          <a:prstGeom prst="ellipse">
            <a:avLst/>
          </a:prstGeom>
          <a:solidFill>
            <a:srgbClr val="4A9EBA"/>
          </a:solidFill>
          <a:ln w="12700">
            <a:solidFill>
              <a:srgbClr val="4A9EB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97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97280" y="1005840"/>
            <a:ext cx="7543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 baseline proved that frame-level detection is fundamentally insufficient for drowsiness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502920" cy="502920"/>
          </a:xfrm>
          <a:prstGeom prst="ellipse">
            <a:avLst/>
          </a:prstGeom>
          <a:solidFill>
            <a:srgbClr val="4A9EBA"/>
          </a:solidFill>
          <a:ln w="12700">
            <a:solidFill>
              <a:srgbClr val="4A9EB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286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97280" y="2194560"/>
            <a:ext cx="7543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fusion with PERCLOS and MAR directly addresses the core temporal problem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3474720"/>
            <a:ext cx="502920" cy="502920"/>
          </a:xfrm>
          <a:prstGeom prst="ellipse">
            <a:avLst/>
          </a:prstGeom>
          <a:solidFill>
            <a:srgbClr val="4A9EBA"/>
          </a:solidFill>
          <a:ln w="12700">
            <a:solidFill>
              <a:srgbClr val="4A9EB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3474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97280" y="3383280"/>
            <a:ext cx="7543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system runs on a standard webcam — no specialised hardware required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4572000"/>
            <a:ext cx="8229600" cy="292608"/>
          </a:xfrm>
          <a:prstGeom prst="roundRect">
            <a:avLst>
              <a:gd name="adj" fmla="val 12500"/>
            </a:avLst>
          </a:prstGeom>
          <a:solidFill>
            <a:srgbClr val="1A2B3C"/>
          </a:solidFill>
          <a:ln w="12700">
            <a:solidFill>
              <a:srgbClr val="1A2B3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452628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A9E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Future:  NTHU benchmark evaluation  ·  CNN-LSTM temporal model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Content="1" isInverted="1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749040" y="731520"/>
            <a:ext cx="1645920" cy="1645920"/>
          </a:xfrm>
          <a:prstGeom prst="ellipse">
            <a:avLst/>
          </a:prstGeom>
          <a:solidFill>
            <a:srgbClr val="4A9EBA">
              <a:alpha val="85000"/>
            </a:srgbClr>
          </a:solidFill>
          <a:ln w="12700">
            <a:solidFill>
              <a:srgbClr val="4A9EB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749040" y="731520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457200" y="26060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457200" y="35661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4A9E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200400" y="4251960"/>
            <a:ext cx="2743200" cy="27432"/>
          </a:xfrm>
          <a:prstGeom prst="rect">
            <a:avLst/>
          </a:prstGeom>
          <a:solidFill>
            <a:srgbClr val="4A9EBA"/>
          </a:solidFill>
          <a:ln w="12700">
            <a:solidFill>
              <a:srgbClr val="4A9EB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 Drowsiness Detection System  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Content="1" isInverted="1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675</Words>
  <Application>Microsoft Office PowerPoint</Application>
  <PresentationFormat>On-screen Show (16:9)</PresentationFormat>
  <Paragraphs>191</Paragraphs>
  <Slides>17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Calibri</vt:lpstr>
      <vt:lpstr>Tahoma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Driver Drowsiness Detection System</dc:title>
  <dc:subject>PptxGenJS Presentation</dc:subject>
  <dc:creator>PptxGenJS</dc:creator>
  <cp:lastModifiedBy>Isha Nabeel</cp:lastModifiedBy>
  <cp:revision>3</cp:revision>
  <dcterms:created xsi:type="dcterms:W3CDTF">2026-06-28T00:19:17Z</dcterms:created>
  <dcterms:modified xsi:type="dcterms:W3CDTF">2026-07-03T12:52:01Z</dcterms:modified>
</cp:coreProperties>
</file>