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6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29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6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_morph_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9CCD-3BD6-AB24-E67D-453316B5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450D4-942F-BEC2-ECD9-89B057C87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55BF0-AD30-F14B-A193-9B1EA4AB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19D85-684C-4CBD-B577-C318FA43788A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9F22F-0CEA-8EB8-7D2B-71E787AB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4BB4B-2658-8487-7409-C589D7E5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AB3-D509-42EB-90D3-C7F04E7E3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3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28" cy="109728"/>
          </a:xfrm>
          <a:prstGeom prst="ellipse">
            <a:avLst/>
          </a:prstGeom>
          <a:solidFill>
            <a:srgbClr val="4A9EBA"/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65760"/>
            <a:ext cx="73152" cy="73152"/>
          </a:xfrm>
          <a:prstGeom prst="ellipse">
            <a:avLst/>
          </a:prstGeom>
          <a:solidFill>
            <a:srgbClr val="4A9EBA">
              <a:alpha val="60000"/>
            </a:srgbClr>
          </a:solidFill>
          <a:ln w="12700">
            <a:solidFill>
              <a:srgbClr val="4A9EB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Drowsiness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286000" cy="36576"/>
          </a:xfrm>
          <a:prstGeom prst="rect">
            <a:avLst/>
          </a:prstGeom>
          <a:solidFill>
            <a:srgbClr val="4A9EBA"/>
          </a:solidFill>
          <a:ln w="12700">
            <a:solidFill>
              <a:srgbClr val="4A9EB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fatalities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37560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caused by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drowsiness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hardware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493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camera-only, training-free deployment system for drowsiness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EBF5FB"/>
          </a:solidFill>
          <a:ln w="19050">
            <a:solidFill>
              <a:srgbClr val="AED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+ Mouth classifiers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fundamental limitations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frame-based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E8F8F5"/>
          </a:solidFill>
          <a:ln w="19050">
            <a:solidFill>
              <a:srgbClr val="A2D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EAR / MAR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PERCLOS Temporal Fusion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2606040"/>
            <a:ext cx="402336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24963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CNN?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10515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vs. Drowsy Closure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40817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blink (150–400 ms) looks identical to drowsy closure (2–4 s) in a single frame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82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vs. Yawning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6426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open for speech and yawning are indistinguishable at the frame level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182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74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8770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temporal context there is no drowsiness signal — just a frozen moment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motivated our temporal fusion system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43000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4A9EBA">
              <a:alpha val="15000"/>
            </a:srgbClr>
          </a:solidFill>
          <a:ln w="12700">
            <a:solidFill>
              <a:srgbClr val="4A9EB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CNN 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MRL Eye Dataset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— Open / Closed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43000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CNN Training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Dataset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45643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— Yawn / No Yawn classes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8F4F8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grayscale patch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4A9EB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57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ImageNet backbone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015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head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767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8F4F8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069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4074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CNN: Open / Closed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CNN: Yawn / No Yawn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0F1923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6002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MobileNetV2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Pretrained: ImageNet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Binary classification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64×64 grayscale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Eye: Open / Closed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Mouth: Yawn / No Yawn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17007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 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Mouth 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9E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3474720"/>
            <a:ext cx="7315200" cy="822960"/>
          </a:xfrm>
          <a:prstGeom prst="roundRect">
            <a:avLst>
              <a:gd name="adj" fmla="val 6667"/>
            </a:avLst>
          </a:prstGeom>
          <a:solidFill>
            <a:srgbClr val="E8F4F8"/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560" y="3547872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achieve &gt;91% accuracy with balanced precision and recall across both classes — strong baselines that expose the frame-level limitation.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78F79D-3A22-C7F5-5D41-29C78A9C4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1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2F7684-AA46-5EFF-EB44-7CA009C10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0695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96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324612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A2B3C"/>
          </a:solidFill>
          <a:ln w="12700">
            <a:solidFill>
              <a:srgbClr val="2E4460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CEC6B7-BDD6-84B8-42C1-58135511F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6407" y="984703"/>
            <a:ext cx="2691185" cy="2691185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608076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A2B3C"/>
          </a:solidFill>
          <a:ln w="12700">
            <a:solidFill>
              <a:srgbClr val="2E4460"/>
            </a:solidFill>
            <a:prstDash val="solid"/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3589FA-C292-5B60-B2C9-1D1633519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1" y="960120"/>
            <a:ext cx="2560320" cy="2807208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41148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A2B3C"/>
          </a:solidFill>
          <a:ln w="12700">
            <a:solidFill>
              <a:srgbClr val="2E4460"/>
            </a:solidFill>
            <a:prstDash val="solid"/>
          </a:ln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095BDA-AD8B-A7A4-B94B-2F9C1954C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1" y="960120"/>
            <a:ext cx="2758618" cy="2807207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Visualization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Eye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on iris / lid boundary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Eye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on lid 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Yawn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Heat on mouth opening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focuses on iris/lid boundary — confirming learned features are anatomically meaningful, not background artifacts.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System: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51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356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landmarks detected per frame — no training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— Eye Aspect Ratio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614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frame from 6 eye landmarks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703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— Mouth Aspect Ratio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087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4 mouth landmarks per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051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4356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30-second window — fraction of frames where eye was closed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28600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7614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&gt; threshold sustained for 1.5 s = yawn event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Fusion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9F7EF"/>
          </a:solidFill>
          <a:ln w="19050">
            <a:solidFill>
              <a:srgbClr val="A9D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27AE60">
              <a:alpha val="9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05156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&lt; 0.35  ·  No yawning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is awake and attentive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EF9E7"/>
          </a:solidFill>
          <a:ln w="19050">
            <a:solidFill>
              <a:srgbClr val="F9E7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E67E22">
              <a:alpha val="9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0.35–0.60  OR  Yawn rate ≥ 2/min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signs of fatigue — audible chime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DEDEC"/>
          </a:solidFill>
          <a:ln w="19050">
            <a:solidFill>
              <a:srgbClr val="F194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1188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C0392B">
              <a:alpha val="9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&gt; 0.60  OR  Yawn rate ≥ 4/min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41605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drowsiness — strong alert triggered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693E77B-F7FB-F498-C619-71F481BC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" y="0"/>
            <a:ext cx="9134788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Design?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005840"/>
          <a:ext cx="713232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F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 vs closure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88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Warm-up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window needs 30 seconds to accumulate enough frames before it becomes meaningful.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40680" y="1088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Threshold Sensitivity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threshold may vary per person — glasses, eye shape, and lighting affect baseline.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008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Evaluation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has not yet been evaluated on a standard benchmark dataset (e.g., NTHU).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3008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Frontal Camera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frontal-facing camera setup; extreme head angles or profile views are not supported.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4A9EBA"/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 proved that frame-level detection is fundamentally insufficient for drowsiness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4A9EBA"/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fusion with PERCLOS and MAR directly addresses the core temporal problem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4A9EBA"/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38328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 runs on a standard webcam — no specialised hardware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 NTHU benchmark evaluation  ·  CNN-LSTM temporal model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4A9EBA">
              <a:alpha val="85000"/>
            </a:srgbClr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0" y="7315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9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251960"/>
            <a:ext cx="2743200" cy="27432"/>
          </a:xfrm>
          <a:prstGeom prst="rect">
            <a:avLst/>
          </a:prstGeom>
          <a:solidFill>
            <a:srgbClr val="4A9EBA"/>
          </a:solidFill>
          <a:ln w="12700">
            <a:solidFill>
              <a:srgbClr val="4A9E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Drowsiness Detection System  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665</Words>
  <Application>Microsoft Office PowerPoint</Application>
  <PresentationFormat>On-screen Show (16:9)</PresentationFormat>
  <Paragraphs>188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Drowsiness Detection System</dc:title>
  <dc:subject>PptxGenJS Presentation</dc:subject>
  <dc:creator>PptxGenJS</dc:creator>
  <cp:lastModifiedBy>Isha Nabeel</cp:lastModifiedBy>
  <cp:revision>4</cp:revision>
  <dcterms:created xsi:type="dcterms:W3CDTF">2026-06-28T00:19:17Z</dcterms:created>
  <dcterms:modified xsi:type="dcterms:W3CDTF">2026-07-07T23:52:34Z</dcterms:modified>
</cp:coreProperties>
</file>